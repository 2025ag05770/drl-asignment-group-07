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2" r:id="rId13"/>
    <p:sldId id="274" r:id="rId14"/>
    <p:sldId id="267" r:id="rId15"/>
    <p:sldId id="271" r:id="rId16"/>
    <p:sldId id="26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A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16C650-7844-48DF-9EE1-E9CC22D40D8B}" v="4" dt="2026-09-04T04:13:05.6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52" y="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EAD4C-67D3-4702-8615-2822E4E97A24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8A0656-B348-42C5-983E-2728AA0ACB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10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8A0656-B348-42C5-983E-2728AA0ACB9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3797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2025ag05770/DRL-Asignment-group-0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025ag05770/DRL-Asignment-group-07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025ag05770/DRL-Asignment-group-07" TargetMode="Externa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025ag05770/DRL-Asignment-group-07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788920" cy="685800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88920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658368"/>
            <a:ext cx="1645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rPr sz="1600" b="1" dirty="0">
                <a:solidFill>
                  <a:srgbClr val="FFFFFF"/>
                </a:solidFill>
                <a:latin typeface="Aptos"/>
              </a:rPr>
              <a:t>GROUP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325880"/>
            <a:ext cx="2150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Aptos"/>
              </a:defRPr>
            </a:pPr>
            <a:r>
              <a:rPr sz="1900" b="1">
                <a:solidFill>
                  <a:srgbClr val="FFFFFF"/>
                </a:solidFill>
                <a:latin typeface="Aptos"/>
              </a:rPr>
              <a:t>DRL</a:t>
            </a:r>
            <a:br/>
            <a:r>
              <a:rPr sz="1900" b="1">
                <a:solidFill>
                  <a:srgbClr val="FFFFFF"/>
                </a:solidFill>
                <a:latin typeface="Aptos"/>
              </a:rPr>
              <a:t>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2514600"/>
            <a:ext cx="1645920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0352" y="2834640"/>
            <a:ext cx="17830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CBD5E1"/>
                </a:solidFill>
                <a:latin typeface="Aptos"/>
              </a:defRPr>
            </a:pPr>
            <a:r>
              <a:rPr sz="1400" b="1">
                <a:solidFill>
                  <a:srgbClr val="CBD5E1"/>
                </a:solidFill>
                <a:latin typeface="Aptos"/>
              </a:rPr>
              <a:t>RESEARCH</a:t>
            </a:r>
            <a:br/>
            <a:r>
              <a:rPr sz="1400" b="1">
                <a:solidFill>
                  <a:srgbClr val="CBD5E1"/>
                </a:solidFill>
                <a:latin typeface="Aptos"/>
              </a:rPr>
              <a:t>PAPER</a:t>
            </a:r>
            <a:br/>
            <a:r>
              <a:rPr sz="1400" b="1">
                <a:solidFill>
                  <a:srgbClr val="CBD5E1"/>
                </a:solidFill>
                <a:latin typeface="Aptos"/>
              </a:rPr>
              <a:t>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868680"/>
            <a:ext cx="7955279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122035"/>
                </a:solidFill>
                <a:latin typeface="Aptos"/>
              </a:defRPr>
            </a:pPr>
            <a:r>
              <a:rPr sz="2800" b="1" dirty="0">
                <a:solidFill>
                  <a:srgbClr val="122035"/>
                </a:solidFill>
                <a:latin typeface="Aptos"/>
              </a:rPr>
              <a:t>A Framework for Fair Evaluation</a:t>
            </a:r>
            <a:br>
              <a:rPr dirty="0"/>
            </a:br>
            <a:r>
              <a:rPr sz="2800" b="1" dirty="0">
                <a:solidFill>
                  <a:srgbClr val="122035"/>
                </a:solidFill>
                <a:latin typeface="Aptos"/>
              </a:rPr>
              <a:t>of Variance-Aware Bandit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2" y="2194560"/>
            <a:ext cx="7315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2563EB"/>
                </a:solidFill>
                <a:latin typeface="Aptos"/>
              </a:defRPr>
            </a:pPr>
            <a:r>
              <a:rPr sz="1600" b="1" dirty="0">
                <a:solidFill>
                  <a:srgbClr val="2563EB"/>
                </a:solidFill>
                <a:latin typeface="Aptos"/>
              </a:rPr>
              <a:t>Assignment Problem I  |  Wolf (2025)  |  arXiv:2510.27001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4992" y="2880360"/>
            <a:ext cx="79095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64992" y="3337560"/>
            <a:ext cx="7909560" cy="2432304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12" name="Rectangle 11"/>
          <p:cNvSpPr/>
          <p:nvPr/>
        </p:nvSpPr>
        <p:spPr>
          <a:xfrm>
            <a:off x="3364992" y="3337560"/>
            <a:ext cx="64008" cy="2377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66160" y="3483864"/>
            <a:ext cx="75438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2000" b="1" dirty="0">
                <a:solidFill>
                  <a:srgbClr val="122035"/>
                </a:solidFill>
                <a:latin typeface="Aptos"/>
              </a:rPr>
              <a:t>Contributors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5893308"/>
            <a:ext cx="7772400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50" b="0">
                <a:solidFill>
                  <a:srgbClr val="475569"/>
                </a:solidFill>
                <a:latin typeface="Aptos"/>
              </a:defRPr>
            </a:pPr>
            <a:r>
              <a:rPr lang="en-GB" sz="1400" dirty="0"/>
              <a:t>GitHub Repository </a:t>
            </a:r>
            <a:r>
              <a:rPr lang="en-GB" sz="1400" b="0" dirty="0">
                <a:solidFill>
                  <a:srgbClr val="475569"/>
                </a:solidFill>
                <a:latin typeface="Aptos"/>
                <a:hlinkClick r:id="rId3"/>
              </a:rPr>
              <a:t>: </a:t>
            </a:r>
            <a:r>
              <a:rPr lang="en-GB" sz="1400" b="0" dirty="0">
                <a:solidFill>
                  <a:srgbClr val="475569"/>
                </a:solidFill>
                <a:latin typeface="Aptos"/>
                <a:hlinkClick r:id="rId3"/>
              </a:rPr>
              <a:t>https://github.com/2025ag05770/DRL-Asignment-group-07</a:t>
            </a:r>
            <a:br>
              <a:rPr lang="en-GB" sz="1400" b="0" dirty="0">
                <a:solidFill>
                  <a:srgbClr val="475569"/>
                </a:solidFill>
                <a:latin typeface="Aptos"/>
              </a:rPr>
            </a:br>
            <a:r>
              <a:rPr lang="en-GB" sz="1400" dirty="0"/>
              <a:t>Video Recording Link: [Google Drive URL]</a:t>
            </a:r>
          </a:p>
          <a:p>
            <a:pPr>
              <a:defRPr sz="1250" b="0">
                <a:solidFill>
                  <a:srgbClr val="475569"/>
                </a:solidFill>
                <a:latin typeface="Aptos"/>
              </a:defRPr>
            </a:pPr>
            <a:r>
              <a:rPr lang="en-GB" sz="1400" b="0" dirty="0">
                <a:solidFill>
                  <a:srgbClr val="475569"/>
                </a:solidFill>
                <a:latin typeface="Aptos"/>
                <a:hlinkClick r:id="rId3"/>
              </a:rPr>
              <a:t>  </a:t>
            </a:r>
            <a:br>
              <a:rPr lang="en-GB" sz="1400" b="0" dirty="0">
                <a:solidFill>
                  <a:srgbClr val="475569"/>
                </a:solidFill>
                <a:latin typeface="Aptos"/>
              </a:rPr>
            </a:br>
            <a:endParaRPr lang="en-GB" sz="1400" dirty="0"/>
          </a:p>
        </p:txBody>
      </p:sp>
      <p:sp>
        <p:nvSpPr>
          <p:cNvPr id="16" name="Rectangle 15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0743" y="6473952"/>
            <a:ext cx="97840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800" b="0" dirty="0">
                <a:solidFill>
                  <a:srgbClr val="64748B"/>
                </a:solidFill>
                <a:latin typeface="Aptos"/>
              </a:rPr>
              <a:t>Primary source: Wolf (2025), arXiv:2510.27001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</a:t>
            </a:r>
          </a:p>
        </p:txBody>
      </p:sp>
      <p:graphicFrame>
        <p:nvGraphicFramePr>
          <p:cNvPr id="115" name="Table 114">
            <a:extLst>
              <a:ext uri="{FF2B5EF4-FFF2-40B4-BE49-F238E27FC236}">
                <a16:creationId xmlns:a16="http://schemas.microsoft.com/office/drawing/2014/main" id="{200BF74D-329E-1741-79CD-3C5C78DBA5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935127"/>
              </p:ext>
            </p:extLst>
          </p:nvPr>
        </p:nvGraphicFramePr>
        <p:xfrm>
          <a:off x="3553604" y="4030278"/>
          <a:ext cx="75438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83502">
                  <a:extLst>
                    <a:ext uri="{9D8B030D-6E8A-4147-A177-3AD203B41FA5}">
                      <a16:colId xmlns:a16="http://schemas.microsoft.com/office/drawing/2014/main" val="2703874698"/>
                    </a:ext>
                  </a:extLst>
                </a:gridCol>
                <a:gridCol w="493159">
                  <a:extLst>
                    <a:ext uri="{9D8B030D-6E8A-4147-A177-3AD203B41FA5}">
                      <a16:colId xmlns:a16="http://schemas.microsoft.com/office/drawing/2014/main" val="595035270"/>
                    </a:ext>
                  </a:extLst>
                </a:gridCol>
                <a:gridCol w="3967139">
                  <a:extLst>
                    <a:ext uri="{9D8B030D-6E8A-4147-A177-3AD203B41FA5}">
                      <a16:colId xmlns:a16="http://schemas.microsoft.com/office/drawing/2014/main" val="15121082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tx1"/>
                          </a:solidFill>
                          <a:effectLst/>
                        </a:rPr>
                        <a:t>ANKUSH T </a:t>
                      </a:r>
                      <a:endParaRPr lang="en-IN" sz="1800" b="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2025AG05770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5287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BURRA VISHNUJA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2025AG05233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65398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KEERTHANA PRIYA S</a:t>
                      </a:r>
                      <a:endParaRPr lang="en-IN" sz="1800" b="0" i="0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2025AG05322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130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kern="1200" dirty="0">
                          <a:solidFill>
                            <a:schemeClr val="dk1"/>
                          </a:solidFill>
                          <a:effectLst/>
                        </a:rPr>
                        <a:t>VADLAMANI NEHA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2025AG05240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5741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 dirty="0">
                <a:solidFill>
                  <a:srgbClr val="122035"/>
                </a:solidFill>
                <a:latin typeface="Aptos"/>
              </a:rPr>
              <a:t>1. Objective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 dirty="0">
                <a:solidFill>
                  <a:srgbClr val="64748B"/>
                </a:solidFill>
                <a:latin typeface="Aptos"/>
              </a:rPr>
              <a:t>Why fair comparison of bandit algorithms is difficult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3429000" cy="169164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16916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56231"/>
            <a:ext cx="306324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Different setups, random seeds, metrics, and tuning choices can make algorithm comparisons unfair.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3429000" cy="169164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64008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0288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Why variance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56231"/>
            <a:ext cx="306324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Variance-aware methods use reward variability when constructing exploration bounds.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325880"/>
            <a:ext cx="3429000" cy="169164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325880"/>
            <a:ext cx="64008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93608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Research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1856231"/>
            <a:ext cx="3063240" cy="10332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The paper proposes a reproducible framework to isolate when variance-awareness actually helps.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3401568"/>
            <a:ext cx="10241280" cy="65836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566160"/>
            <a:ext cx="9875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Aptos"/>
              </a:defRPr>
            </a:pPr>
            <a:r>
              <a:rPr sz="1450" b="1" dirty="0">
                <a:solidFill>
                  <a:srgbClr val="FFFFFF"/>
                </a:solidFill>
                <a:latin typeface="Aptos"/>
              </a:rPr>
              <a:t>Core question: Under what conditions do variance-aware algorithms outperform classical alternatives?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407408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RQ1: How can performance differences be observed reliably?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RQ2: When do variance-aware methods outperform classical methods?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 dirty="0">
                <a:solidFill>
                  <a:srgbClr val="64748B"/>
                </a:solidFill>
                <a:latin typeface="Aptos"/>
              </a:rPr>
              <a:t>Source: Wolf (2025), Introduction and Research Questions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2. Multi-Armed Bandits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The exploration-versus-exploitation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FOUNDATION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226771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2563EB"/>
                </a:solidFill>
                <a:latin typeface="Aptos"/>
              </a:defRPr>
            </a:pPr>
            <a:r>
              <a:rPr sz="95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rPr sz="1000" b="1">
                <a:solidFill>
                  <a:srgbClr val="2563EB"/>
                </a:solidFill>
                <a:latin typeface="Aptos"/>
              </a:rPr>
              <a:t>CHOOSE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sz="1250" b="1">
                <a:solidFill>
                  <a:srgbClr val="122035"/>
                </a:solidFill>
                <a:latin typeface="Aptos"/>
              </a:rPr>
              <a:t>Select an arm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02152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02152" y="1325880"/>
            <a:ext cx="2267712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9312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0D9488"/>
                </a:solidFill>
                <a:latin typeface="Aptos"/>
              </a:defRPr>
            </a:pPr>
            <a:r>
              <a:rPr sz="950" b="1">
                <a:solidFill>
                  <a:srgbClr val="0D9488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9080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0D9488"/>
                </a:solidFill>
                <a:latin typeface="Aptos"/>
              </a:defRPr>
            </a:pPr>
            <a:r>
              <a:rPr sz="1000" b="1">
                <a:solidFill>
                  <a:srgbClr val="0D9488"/>
                </a:solidFill>
                <a:latin typeface="Aptos"/>
              </a:rPr>
              <a:t>REWARD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9312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sz="1250" b="1">
                <a:solidFill>
                  <a:srgbClr val="122035"/>
                </a:solidFill>
                <a:latin typeface="Aptos"/>
              </a:rPr>
              <a:t>Observe reward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1072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91072" y="1325880"/>
            <a:ext cx="2267712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28232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D28D9"/>
                </a:solidFill>
                <a:latin typeface="Aptos"/>
              </a:defRPr>
            </a:pPr>
            <a:r>
              <a:rPr sz="950" b="1">
                <a:solidFill>
                  <a:srgbClr val="6D28D9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6D28D9"/>
                </a:solidFill>
                <a:latin typeface="Aptos"/>
              </a:defRPr>
            </a:pPr>
            <a:r>
              <a:rPr sz="1000" b="1">
                <a:solidFill>
                  <a:srgbClr val="6D28D9"/>
                </a:solidFill>
                <a:latin typeface="Aptos"/>
              </a:rP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sz="1250" b="1">
                <a:solidFill>
                  <a:srgbClr val="122035"/>
                </a:solidFill>
                <a:latin typeface="Aptos"/>
              </a:rPr>
              <a:t>Update estimates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79991" y="1325880"/>
            <a:ext cx="2267712" cy="1078992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79991" y="1325880"/>
            <a:ext cx="226771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1" y="1527048"/>
            <a:ext cx="365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D97706"/>
                </a:solidFill>
                <a:latin typeface="Aptos"/>
              </a:defRPr>
            </a:pPr>
            <a:r>
              <a:rPr sz="950" b="1">
                <a:solidFill>
                  <a:srgbClr val="D97706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19" y="1508760"/>
            <a:ext cx="146304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D97706"/>
                </a:solidFill>
                <a:latin typeface="Aptos"/>
              </a:defRPr>
            </a:pPr>
            <a:r>
              <a:rPr sz="1000" b="1">
                <a:solidFill>
                  <a:srgbClr val="D97706"/>
                </a:solidFill>
                <a:latin typeface="Aptos"/>
              </a:rPr>
              <a:t>REPEAT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1" y="1847088"/>
            <a:ext cx="1993392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sz="1250" b="1">
                <a:solidFill>
                  <a:srgbClr val="122035"/>
                </a:solidFill>
                <a:latin typeface="Aptos"/>
              </a:rPr>
              <a:t>Try again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2926080"/>
            <a:ext cx="498348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77240" y="2926080"/>
            <a:ext cx="64008" cy="2057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8408" y="307238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Simple example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" y="3456432"/>
            <a:ext cx="4617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Arm A → mean reward ≈ 0.895</a:t>
            </a:r>
            <a:br>
              <a:rPr dirty="0"/>
            </a:br>
            <a:r>
              <a:rPr sz="1280" b="0" dirty="0">
                <a:solidFill>
                  <a:srgbClr val="475569"/>
                </a:solidFill>
                <a:latin typeface="Aptos"/>
              </a:rPr>
              <a:t>Arm B → mean reward ≈ 0.900</a:t>
            </a:r>
            <a:br>
              <a:rPr dirty="0"/>
            </a:br>
            <a:br>
              <a:rPr dirty="0"/>
            </a:br>
            <a:r>
              <a:rPr sz="1280" b="0" dirty="0">
                <a:solidFill>
                  <a:srgbClr val="475569"/>
                </a:solidFill>
                <a:latin typeface="Aptos"/>
              </a:rPr>
              <a:t>The learner must discover the better arm while controlling regret.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2926080"/>
            <a:ext cx="4983480" cy="2057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80" y="2926080"/>
            <a:ext cx="64008" cy="2057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56248" y="3072384"/>
            <a:ext cx="4617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Two competing goals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6248" y="3456432"/>
            <a:ext cx="461772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80" b="0">
                <a:solidFill>
                  <a:srgbClr val="475569"/>
                </a:solidFill>
                <a:latin typeface="Aptos"/>
              </a:defRPr>
            </a:pPr>
            <a:r>
              <a:rPr sz="1280" b="0" dirty="0">
                <a:solidFill>
                  <a:srgbClr val="475569"/>
                </a:solidFill>
                <a:latin typeface="Aptos"/>
              </a:rPr>
              <a:t>Exploration → gather information.</a:t>
            </a:r>
            <a:br>
              <a:rPr dirty="0"/>
            </a:br>
            <a:br>
              <a:rPr dirty="0"/>
            </a:br>
            <a:r>
              <a:rPr sz="1280" b="0" dirty="0">
                <a:solidFill>
                  <a:srgbClr val="475569"/>
                </a:solidFill>
                <a:latin typeface="Aptos"/>
              </a:rPr>
              <a:t>Exploitation → choose the arm that currently looks best.</a:t>
            </a:r>
            <a:br>
              <a:rPr dirty="0"/>
            </a:br>
            <a:br>
              <a:rPr dirty="0"/>
            </a:br>
            <a:r>
              <a:rPr sz="1280" b="0" dirty="0">
                <a:solidFill>
                  <a:srgbClr val="475569"/>
                </a:solidFill>
                <a:latin typeface="Aptos"/>
              </a:rPr>
              <a:t>A good policy balances both.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60120" y="5440680"/>
            <a:ext cx="10241280" cy="475488"/>
          </a:xfrm>
          <a:prstGeom prst="rect">
            <a:avLst/>
          </a:prstGeom>
          <a:solidFill>
            <a:srgbClr val="F5F3FF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43000" y="55595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Goal: minimize cumulative regret   Rₙ = n·Q* − 𝔼[∑ₜ Xₜ]   =   ∑ₜ₌₁ⁿ (Q* − Q_{Aₜ})   =   ∑ₖ Δₖ · 𝔼[Tₐₖ(n)]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 2.1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3. Algorithms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Eight strategies grouped by exploration principle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3456432" cy="4315968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64008" cy="43159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472184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Classical / standard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56231"/>
            <a:ext cx="3090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ETC — Explore-Then-Commit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ε-Greedy — random exploration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 — confidence-bound exploration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 bound:  UCBₐ(t) = Q̂ₐ(t) + √(2 ln t / Tₐ(t))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(No variance term)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325880"/>
            <a:ext cx="3456432" cy="4315968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0832" y="1325880"/>
            <a:ext cx="64008" cy="43159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472184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Variance-aware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856231"/>
            <a:ext cx="3090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UCB-V — uses empirical variance σ̂²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UCB-Tuned — variance-adaptive UCB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UCB-Tuned score:  Q̂ₐ(t) + √( min(¼, V̂ₐ(t)) · ln t / Tₐ(t) 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where  V̂ₐ(t) = σ̂²ₐ(t) + √(2 ln t / Tₐ(t))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EUCBV — variance bound + phased elimination  (ψ = n/K²)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UCB-V bound: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Bₐ(t) = Q̂ₐ(t) + √(2σ̂²ₐ · ε / Tₐ(t))  +  c · 3bε / Tₐ(t)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where ε = θ ln(t),  θ = c = b =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325880"/>
            <a:ext cx="3456432" cy="4315968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1325880"/>
            <a:ext cx="64008" cy="431596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090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Non-variance-aware (paper §2.4)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56231"/>
            <a:ext cx="3090672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PAC-UCB — variance-independent bounds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ε_Tₐ(t) = log{Ks^q · β⁻¹} ∨ 2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/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UCB-Improved — adaptive bounds + phased elimination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(halving δ per phase)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Sections 2.2–2.4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4. Fair Evaluation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Common experimental semantics for every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METHODOLOGY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19751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Same initialization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07792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07792" y="1325880"/>
            <a:ext cx="1975104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17520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0D9488"/>
                </a:solidFill>
                <a:latin typeface="Aptos"/>
              </a:defRPr>
            </a:pPr>
            <a:r>
              <a:rPr sz="900" b="1">
                <a:solidFill>
                  <a:srgbClr val="0D9488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Fixed random seeds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9784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9784" y="1325880"/>
            <a:ext cx="1975104" cy="7315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39512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D28D9"/>
                </a:solidFill>
                <a:latin typeface="Aptos"/>
              </a:defRPr>
            </a:pPr>
            <a:r>
              <a:rPr sz="900" b="1">
                <a:solidFill>
                  <a:srgbClr val="6D28D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One action / step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51776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51776" y="1325880"/>
            <a:ext cx="1975104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61504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D97706"/>
                </a:solidFill>
                <a:latin typeface="Aptos"/>
              </a:defRPr>
            </a:pPr>
            <a:r>
              <a:rPr sz="900" b="1">
                <a:solidFill>
                  <a:srgbClr val="D97706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1504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Arm-order permutations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73768" y="1325880"/>
            <a:ext cx="1975104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73768" y="1325880"/>
            <a:ext cx="1975104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83496" y="1527048"/>
            <a:ext cx="38404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2563EB"/>
                </a:solidFill>
                <a:latin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83496" y="1828800"/>
            <a:ext cx="1755648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Same metrics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2816352"/>
            <a:ext cx="10332720" cy="694944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43000" y="2990088"/>
            <a:ext cx="98755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rPr sz="1400" b="1">
                <a:solidFill>
                  <a:srgbClr val="FFFFFF"/>
                </a:solidFill>
                <a:latin typeface="Aptos"/>
              </a:rPr>
              <a:t>Fairness principle: differences should come from algorithms, not implementation artifacts.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977639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  <a:defRPr sz="1350">
                <a:solidFill>
                  <a:srgbClr val="475569"/>
                </a:solidFill>
                <a:latin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</a:rPr>
              <a:t>• Two-armed Bernoulli environments keep the comparison interpretable.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350">
                <a:solidFill>
                  <a:srgbClr val="475569"/>
                </a:solidFill>
                <a:latin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</a:rPr>
              <a:t>• Runs share the same time horizon and repeated-trial structure.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350">
                <a:solidFill>
                  <a:srgbClr val="475569"/>
                </a:solidFill>
                <a:latin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</a:rPr>
              <a:t>• Code &amp; Reproduction Repo (https://github.com/2025ag05770/DRL-Asignment-group-07) provides reproducible code, checkpoints &amp; logs.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5</a:t>
            </a:r>
          </a:p>
        </p:txBody>
      </p:sp>
      <p:sp>
        <p:nvSpPr>
          <p:cNvPr id="34" name="Code map"/>
          <p:cNvSpPr txBox="1"/>
          <p:nvPr/>
        </p:nvSpPr>
        <p:spPr>
          <a:xfrm>
            <a:off x="685800" y="5200000"/>
            <a:ext cx="10835640" cy="1130000"/>
          </a:xfrm>
          <a:prstGeom prst="rect">
            <a:avLst/>
          </a:prstGeom>
          <a:solidFill>
            <a:srgbClr val="F1F5F9"/>
          </a:solidFill>
        </p:spPr>
        <p:txBody>
          <a:bodyPr wrap="square" lIns="137160" rIns="137160" anchor="ctr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ptos"/>
              </a:rPr>
              <a:t>Where each fairness rule lives in our code (Group_7_DRL_ASSIGNMENT.py)</a:t>
            </a:r>
          </a:p>
          <a:p>
            <a:r>
              <a:rPr sz="1200" b="0">
                <a:solidFill>
                  <a:srgbClr val="1E293B"/>
                </a:solidFill>
                <a:latin typeface="Aptos"/>
              </a:rPr>
              <a:t>Same initialisation: L356–365   |   Fixed seeds: SEED_BASE L40, L488 (reversed order uses seed + trials, L490)   |   One pull per step: L441–448   |   Both arm orders: run_scenario L488–490   |   Metrics (regret, suboptimal ratio, chi-square p): L492–507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5. Experimental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Three controlled settings isolate reward-gap and uncertainty effects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EXPERIMENTS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205740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53896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71800" y="1325880"/>
            <a:ext cx="224028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453896"/>
            <a:ext cx="21488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Arm probabilities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1325880"/>
            <a:ext cx="251460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0" y="1453896"/>
            <a:ext cx="2423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Difficulty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325880"/>
            <a:ext cx="32461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0" y="1453896"/>
            <a:ext cx="3154679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Purpose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1965960"/>
            <a:ext cx="20574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" y="2148840"/>
            <a:ext cx="191109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22035"/>
                </a:solidFill>
                <a:latin typeface="Aptos"/>
              </a:defRPr>
            </a:pPr>
            <a:r>
              <a:rPr sz="1050" b="1">
                <a:solidFill>
                  <a:srgbClr val="122035"/>
                </a:solidFill>
                <a:latin typeface="Aptos"/>
              </a:rPr>
              <a:t>A —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1965960"/>
            <a:ext cx="224028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44952" y="2148840"/>
            <a:ext cx="2093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0.8 vs 0.9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40680" y="1965960"/>
            <a:ext cx="251460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513832" y="2148840"/>
            <a:ext cx="2368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Large gap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965960"/>
            <a:ext cx="3246120" cy="7315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57031" y="2148840"/>
            <a:ext cx="30998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Easy separation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98648"/>
            <a:ext cx="205740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8952" y="3081528"/>
            <a:ext cx="191109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22035"/>
                </a:solidFill>
                <a:latin typeface="Aptos"/>
              </a:defRPr>
            </a:pPr>
            <a:r>
              <a:rPr sz="1050" b="1">
                <a:solidFill>
                  <a:srgbClr val="122035"/>
                </a:solidFill>
                <a:latin typeface="Aptos"/>
              </a:rPr>
              <a:t>B — Micro-gap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71800" y="2898648"/>
            <a:ext cx="224028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44952" y="3081528"/>
            <a:ext cx="2093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0.895 vs 0.9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40680" y="2898648"/>
            <a:ext cx="251460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513832" y="3081528"/>
            <a:ext cx="2368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Tiny 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79" y="2898648"/>
            <a:ext cx="3246120" cy="7315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57031" y="3081528"/>
            <a:ext cx="30998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Subtle difference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831335"/>
            <a:ext cx="205740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8952" y="4014215"/>
            <a:ext cx="191109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1">
                <a:solidFill>
                  <a:srgbClr val="122035"/>
                </a:solidFill>
                <a:latin typeface="Aptos"/>
              </a:defRPr>
            </a:pPr>
            <a:r>
              <a:rPr sz="1050" b="1">
                <a:solidFill>
                  <a:srgbClr val="122035"/>
                </a:solidFill>
                <a:latin typeface="Aptos"/>
              </a:rPr>
              <a:t>C — High-variance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71800" y="3831335"/>
            <a:ext cx="224028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44952" y="4014215"/>
            <a:ext cx="209397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0.89 vs 0.895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40680" y="3831335"/>
            <a:ext cx="251460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13832" y="4014215"/>
            <a:ext cx="2368296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Tiny gap + more noise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3831335"/>
            <a:ext cx="3246120" cy="7315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57031" y="4014215"/>
            <a:ext cx="3099815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50" b="0">
                <a:solidFill>
                  <a:srgbClr val="475569"/>
                </a:solidFill>
                <a:latin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</a:rPr>
              <a:t>Stress variance-awareness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" y="5074920"/>
            <a:ext cx="10012680" cy="530352"/>
          </a:xfrm>
          <a:prstGeom prst="rect">
            <a:avLst/>
          </a:prstGeom>
          <a:solidFill>
            <a:srgbClr val="F5F3FF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80160" y="5212080"/>
            <a:ext cx="9646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122035"/>
                </a:solidFill>
                <a:latin typeface="Aptos"/>
              </a:defRPr>
            </a:pPr>
            <a:r>
              <a:rPr sz="1300" b="1">
                <a:solidFill>
                  <a:srgbClr val="122035"/>
                </a:solidFill>
                <a:latin typeface="Aptos"/>
              </a:rPr>
              <a:t>Design logic: start easy, then reduce the reward gap and increase uncertainty.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 3.2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6. Evaluation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Multiple measures prevent a one-number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3337560" cy="141732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325880"/>
            <a:ext cx="64008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149047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0D9488"/>
                </a:solidFill>
                <a:latin typeface="Aptos"/>
              </a:defRPr>
            </a:pPr>
            <a:r>
              <a:rPr sz="1320" b="1">
                <a:solidFill>
                  <a:srgbClr val="0D9488"/>
                </a:solidFill>
                <a:latin typeface="Aptos"/>
              </a:rPr>
              <a:t>Reward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92807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∑ₜ₌₁ⁿ Xₜ   (total accumulated reward)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325880"/>
            <a:ext cx="3337560" cy="14173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325880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149047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2563EB"/>
                </a:solidFill>
                <a:latin typeface="Aptos"/>
              </a:defRPr>
            </a:pPr>
            <a:r>
              <a:rPr sz="1320" b="1">
                <a:solidFill>
                  <a:srgbClr val="2563EB"/>
                </a:solidFill>
                <a:latin typeface="Aptos"/>
              </a:rPr>
              <a:t>Regret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1892807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Rₜ = ∑ₖ₌₁ᵗ (Q* − Q_{Aₖ}) = ∑ₖ Δₖ · Tₐₖ(t)</a:t>
            </a:r>
          </a:p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Loss vs. best arm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325880"/>
            <a:ext cx="3337560" cy="1417320"/>
          </a:xfrm>
          <a:prstGeom prst="rect">
            <a:avLst/>
          </a:prstGeom>
          <a:solidFill>
            <a:srgbClr val="F5F3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83879" y="1325880"/>
            <a:ext cx="64008" cy="14173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59" y="1490472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6D28D9"/>
                </a:solidFill>
                <a:latin typeface="Aptos"/>
              </a:defRPr>
            </a:pPr>
            <a:r>
              <a:rPr sz="1320" b="1">
                <a:solidFill>
                  <a:srgbClr val="6D28D9"/>
                </a:solidFill>
                <a:latin typeface="Aptos"/>
              </a:rPr>
              <a:t>Action optimality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9" y="1892807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∑ₜ 𝟙[Aₜ ≠ a*] / t</a:t>
            </a:r>
          </a:p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(suboptimal pull ratio)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172968"/>
            <a:ext cx="3337560" cy="141732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172968"/>
            <a:ext cx="64008" cy="1417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3337560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D97706"/>
                </a:solidFill>
                <a:latin typeface="Aptos"/>
              </a:defRPr>
            </a:pPr>
            <a:r>
              <a:rPr sz="1320" b="1">
                <a:solidFill>
                  <a:srgbClr val="D97706"/>
                </a:solidFill>
                <a:latin typeface="Aptos"/>
              </a:rPr>
              <a:t>Reward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73989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Observed outcome distribution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3172968"/>
            <a:ext cx="3337560" cy="1417320"/>
          </a:xfrm>
          <a:prstGeom prst="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34840" y="3172968"/>
            <a:ext cx="64008" cy="14173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3337560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B91C1C"/>
                </a:solidFill>
                <a:latin typeface="Aptos"/>
              </a:defRPr>
            </a:pPr>
            <a:r>
              <a:rPr sz="1320" b="1">
                <a:solidFill>
                  <a:srgbClr val="B91C1C"/>
                </a:solidFill>
                <a:latin typeface="Aptos"/>
              </a:rPr>
              <a:t>Value-at-Risk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373989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VaRα(R_T) at α ∈ {0.01, 0.05, 0.10}</a:t>
            </a:r>
          </a:p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Worst-case regret quantile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3172968"/>
            <a:ext cx="3337560" cy="141732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83879" y="3172968"/>
            <a:ext cx="64008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59" y="3337560"/>
            <a:ext cx="28803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20" b="1">
                <a:solidFill>
                  <a:srgbClr val="2563EB"/>
                </a:solidFill>
                <a:latin typeface="Aptos"/>
              </a:defRPr>
            </a:pPr>
            <a:r>
              <a:rPr sz="1320" b="1">
                <a:solidFill>
                  <a:srgbClr val="2563EB"/>
                </a:solidFill>
                <a:latin typeface="Aptos"/>
              </a:rPr>
              <a:t>Regret distribution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3739896"/>
            <a:ext cx="288036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20" b="0">
                <a:solidFill>
                  <a:srgbClr val="475569"/>
                </a:solidFill>
                <a:latin typeface="Aptos"/>
              </a:defRPr>
            </a:pPr>
            <a:r>
              <a:rPr sz="1220" b="0">
                <a:solidFill>
                  <a:srgbClr val="475569"/>
                </a:solidFill>
                <a:latin typeface="Aptos"/>
              </a:rPr>
              <a:t>Spread across trials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Sections 3.5–3.6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029200"/>
            <a:ext cx="10835640" cy="68580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68680" y="5074920"/>
            <a:ext cx="1046988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r>
              <a:rPr sz="1150" b="0">
                <a:solidFill>
                  <a:srgbClr val="92400E"/>
                </a:solidFill>
                <a:latin typeface="Aptos"/>
              </a:rPr>
              <a:t>Scope note: our code reports regret, suboptimal-pull ratio, total reward and the χ² p-value. VaR and the reward / regret distributions are metrics of the paper’s Bandit Playground dashboard and are not reproduced here (see slide 13).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7. Results — Scenario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Large reward gap: p₁ = 0.8 vs p₂ = 0.9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0749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AVERAGE REGRET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ETC (100)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10.10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30.67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0779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4495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EUCBV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4495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47.73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PAC-UCB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4787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99.50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1363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079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109.93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537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537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238.17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280160"/>
            <a:ext cx="5074920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4173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KEY INTERPRETATION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01952"/>
            <a:ext cx="5074920" cy="804672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2075688"/>
            <a:ext cx="4645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rPr sz="1320" b="1">
                <a:solidFill>
                  <a:srgbClr val="122035"/>
                </a:solidFill>
                <a:latin typeface="Aptos"/>
              </a:rPr>
              <a:t>ETC (m = 100) has the lowest regret: 10.10.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99232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2563EB"/>
                </a:solidFill>
                <a:latin typeface="Aptos"/>
              </a:defRPr>
            </a:pPr>
            <a:r>
              <a:rPr sz="950" b="1">
                <a:solidFill>
                  <a:srgbClr val="2563EB"/>
                </a:solidFill>
                <a:latin typeface="Aptos"/>
              </a:rPr>
              <a:t>MEANING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1012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When arms are well separated, variance modeling is not essential.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160520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D97706"/>
                </a:solidFill>
                <a:latin typeface="Aptos"/>
              </a:defRPr>
            </a:pPr>
            <a:r>
              <a:rPr sz="950" b="1">
                <a:solidFill>
                  <a:srgbClr val="D97706"/>
                </a:solidFill>
                <a:latin typeface="Aptos"/>
              </a:rPr>
              <a:t>CAUTION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62272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Poor calibration or over-exploration can produce high regret. Example: ε-Greedy (ε = 0.5) has 25,002.20 regret in Table 3.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Tab. 3 (T=10^6, 100 trials, Ber(0.8, 0.9), chi^2-test vs opt var 90k; p=1.0 for ETC/UCB-Tuned) | Repo: github.com/2025ag05770/DRL-Asignment-group-07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8</a:t>
            </a:r>
          </a:p>
        </p:txBody>
      </p:sp>
      <p:sp>
        <p:nvSpPr>
          <p:cNvPr id="40" name="Source line"/>
          <p:cNvSpPr txBox="1"/>
          <p:nvPr/>
        </p:nvSpPr>
        <p:spPr>
          <a:xfrm>
            <a:off x="685800" y="5500000"/>
            <a:ext cx="10835640" cy="830000"/>
          </a:xfrm>
          <a:prstGeom prst="rect">
            <a:avLst/>
          </a:prstGeom>
          <a:solidFill>
            <a:srgbClr val="F1F5F9"/>
          </a:solidFill>
        </p:spPr>
        <p:txBody>
          <a:bodyPr wrap="square" lIns="137160" rIns="137160" anchor="ctr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ptos"/>
              </a:rPr>
              <a:t>Source: Wolf (2025), arXiv:2510.27001, Table 3, Scenario A (p = 0.8 vs 0.9), T = 10⁶, 100 runs.</a:t>
            </a:r>
          </a:p>
          <a:p>
            <a:r>
              <a:rPr sz="1200" b="0">
                <a:solidFill>
                  <a:srgbClr val="1E293B"/>
                </a:solidFill>
                <a:latin typeface="Aptos"/>
              </a:rPr>
              <a:t>These are the paper's reported averages, not our computation. Our own re-run of the same setup (T = 10⁵, 10 trials × 2 arm orders) is on slide 12 and in results_table.csv in the repo.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8. Results — Scenario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Tiny gap with lower variance: p₁ = 0.895 vs p₂ = 0.9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0749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AVERAGE REGRET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ETC (10k)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150.66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212.21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0779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4495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4495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346.58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PAC-UCB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4787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395.89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1363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EUCBV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079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461.36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537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537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1127.17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280160"/>
            <a:ext cx="507492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55080" y="14173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KEY INTERPRETATION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1901952"/>
            <a:ext cx="5074920" cy="804672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2075688"/>
            <a:ext cx="4645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rPr sz="1320" b="1">
                <a:solidFill>
                  <a:srgbClr val="122035"/>
                </a:solidFill>
                <a:latin typeface="Aptos"/>
              </a:rPr>
              <a:t>ETC (10k) reaches 150.66 average regret.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2999232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0D9488"/>
                </a:solidFill>
                <a:latin typeface="Aptos"/>
              </a:defRPr>
            </a:pPr>
            <a:r>
              <a:rPr sz="950" b="1">
                <a:solidFill>
                  <a:srgbClr val="0D9488"/>
                </a:solidFill>
                <a:latin typeface="Aptos"/>
              </a:rPr>
              <a:t>VARIANCE-AWARE GAIN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31012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UCB-Tuned is far better than standard UCB.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160520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D97706"/>
                </a:solidFill>
                <a:latin typeface="Aptos"/>
              </a:defRPr>
            </a:pPr>
            <a:r>
              <a:rPr sz="950" b="1">
                <a:solidFill>
                  <a:srgbClr val="D97706"/>
                </a:solidFill>
                <a:latin typeface="Aptos"/>
              </a:rPr>
              <a:t>MEANING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462272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Tuning and environment difficulty matter greatly.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Tab. 4 (T=10^6, 100 trials, Ber(0.895, 0.9), chi^2-test vs opt var 90k; UCB-Tuned p=1.0) | Repo: github.com/2025ag05770/DRL-Asignment-group-07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9</a:t>
            </a:r>
          </a:p>
        </p:txBody>
      </p:sp>
      <p:sp>
        <p:nvSpPr>
          <p:cNvPr id="40" name="Source line"/>
          <p:cNvSpPr txBox="1"/>
          <p:nvPr/>
        </p:nvSpPr>
        <p:spPr>
          <a:xfrm>
            <a:off x="685800" y="5500000"/>
            <a:ext cx="10835640" cy="830000"/>
          </a:xfrm>
          <a:prstGeom prst="rect">
            <a:avLst/>
          </a:prstGeom>
          <a:solidFill>
            <a:srgbClr val="F1F5F9"/>
          </a:solidFill>
        </p:spPr>
        <p:txBody>
          <a:bodyPr wrap="square" lIns="137160" rIns="137160" anchor="ctr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ptos"/>
              </a:rPr>
              <a:t>Source: Wolf (2025), arXiv:2510.27001, Table 4, Scenario B (p = 0.895 vs 0.9), T = 10⁶, 100 runs.</a:t>
            </a:r>
          </a:p>
          <a:p>
            <a:r>
              <a:rPr sz="1200" b="0">
                <a:solidFill>
                  <a:srgbClr val="1E293B"/>
                </a:solidFill>
                <a:latin typeface="Aptos"/>
              </a:rPr>
              <a:t>These are the paper's reported averages, not our computation. Our own re-run of the same setup (T = 10⁵, 10 trials × 2 arm orders) is on slide 12 and in results_table.csv in the repo.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9. Results — Scenario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Tiny gap with higher uncertainty: p₁ = 0.89 vs p₂ = 0.895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RESULTS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80160"/>
            <a:ext cx="5074920" cy="475488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2468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1417320"/>
            <a:ext cx="19202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AVERAGE REGRET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01952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20391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ETC (10k)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0391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170.53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404872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54203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UCB-Tuned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4203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226.09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90779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04495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ε-Greedy .05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04495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301.55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41071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54787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UCB-V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4787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367.65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91363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405079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PAC-UCB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05079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417.34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4416551"/>
            <a:ext cx="5074920" cy="475488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4553712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EUCBV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53712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476.31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919471"/>
            <a:ext cx="507492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8680" y="5056631"/>
            <a:ext cx="2514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1">
                <a:solidFill>
                  <a:srgbClr val="122035"/>
                </a:solidFill>
                <a:latin typeface="Aptos"/>
              </a:defRPr>
            </a:pPr>
            <a:r>
              <a:rPr sz="1080" b="1">
                <a:solidFill>
                  <a:srgbClr val="122035"/>
                </a:solidFill>
                <a:latin typeface="Aptos"/>
              </a:rPr>
              <a:t>UCB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056631"/>
            <a:ext cx="1965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80" b="0">
                <a:solidFill>
                  <a:srgbClr val="475569"/>
                </a:solidFill>
                <a:latin typeface="Aptos"/>
              </a:defRPr>
            </a:pPr>
            <a:r>
              <a:rPr sz="1080" b="0">
                <a:solidFill>
                  <a:srgbClr val="475569"/>
                </a:solidFill>
                <a:latin typeface="Aptos"/>
              </a:rPr>
              <a:t>1172.57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1280160"/>
            <a:ext cx="5074920" cy="47548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55080" y="1417320"/>
            <a:ext cx="4709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KEY INTERPRETATION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1901952"/>
            <a:ext cx="5074920" cy="804672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2512" y="2075688"/>
            <a:ext cx="4645152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rPr sz="1320" b="1">
                <a:solidFill>
                  <a:srgbClr val="122035"/>
                </a:solidFill>
                <a:latin typeface="Aptos"/>
              </a:rPr>
              <a:t>UCB-Tuned: 226.09 vs UCB: 1172.57.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999232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6D28D9"/>
                </a:solidFill>
                <a:latin typeface="Aptos"/>
              </a:defRPr>
            </a:pPr>
            <a:r>
              <a:rPr sz="950" b="1">
                <a:solidFill>
                  <a:srgbClr val="6D28D9"/>
                </a:solidFill>
                <a:latin typeface="Aptos"/>
              </a:rPr>
              <a:t>STILL NOT UNIVERSAL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3310128"/>
            <a:ext cx="4617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ETC (10k) has the lowest regret: 170.53.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160520"/>
            <a:ext cx="47091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D97706"/>
                </a:solidFill>
                <a:latin typeface="Aptos"/>
              </a:defRPr>
            </a:pPr>
            <a:r>
              <a:rPr sz="950" b="1">
                <a:solidFill>
                  <a:srgbClr val="D97706"/>
                </a:solidFill>
                <a:latin typeface="Aptos"/>
              </a:rPr>
              <a:t>MEANING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55080" y="4462272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rPr sz="1250" b="0">
                <a:solidFill>
                  <a:srgbClr val="475569"/>
                </a:solidFill>
                <a:latin typeface="Aptos"/>
              </a:rPr>
              <a:t>High uncertainty + tiny gaps favor variance-aware exploration.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Tab. 5 (T=10^6, 100 trials, Ber(0.89, 0.895), opt var 93.9k; UCB-Tuned &amp; UCB-V p=1.0) | Repo: github.com/2025ag05770/DRL-Asignment-group-07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10</a:t>
            </a:r>
          </a:p>
        </p:txBody>
      </p:sp>
      <p:sp>
        <p:nvSpPr>
          <p:cNvPr id="43" name="Source line"/>
          <p:cNvSpPr txBox="1"/>
          <p:nvPr/>
        </p:nvSpPr>
        <p:spPr>
          <a:xfrm>
            <a:off x="685800" y="5520000"/>
            <a:ext cx="10835640" cy="830000"/>
          </a:xfrm>
          <a:prstGeom prst="rect">
            <a:avLst/>
          </a:prstGeom>
          <a:solidFill>
            <a:srgbClr val="F1F5F9"/>
          </a:solidFill>
        </p:spPr>
        <p:txBody>
          <a:bodyPr wrap="square" lIns="137160" rIns="137160" anchor="ctr">
            <a:spAutoFit/>
          </a:bodyPr>
          <a:lstStyle/>
          <a:p>
            <a:r>
              <a:rPr sz="1200" b="1">
                <a:solidFill>
                  <a:srgbClr val="1E293B"/>
                </a:solidFill>
                <a:latin typeface="Aptos"/>
              </a:rPr>
              <a:t>Source: Wolf (2025), arXiv:2510.27001, Table 5, Scenario C (p = 0.89 vs 0.895), T = 10⁶, 100 runs.</a:t>
            </a:r>
          </a:p>
          <a:p>
            <a:r>
              <a:rPr sz="1200" b="0">
                <a:solidFill>
                  <a:srgbClr val="1E293B"/>
                </a:solidFill>
                <a:latin typeface="Aptos"/>
              </a:rPr>
              <a:t>These are the paper's reported averages, not our computation. Our own re-run of the same setup (T = 10⁵, 10 trials × 2 arm orders) is on slide 12 and in results_table.csv in the repo.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10. Cross-Scenario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The value of variance-awareness depends on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SYNTHESIS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325880"/>
            <a:ext cx="3383280" cy="429768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147218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A — Large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856231"/>
            <a:ext cx="3017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Arms separate quickly.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ETC performs extremely well.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Lesson: variance-awareness is not essential when the best arm is obvious.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1325880"/>
            <a:ext cx="3383280" cy="429768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43984" y="1325880"/>
            <a:ext cx="64008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45152" y="147218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B — Tiny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1856231"/>
            <a:ext cx="3017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The mean difference is subtle.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Tuned exploration is strong.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Lesson: classical methods can remain competitive when calibrated.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6" y="1325880"/>
            <a:ext cx="3383280" cy="429768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74736" y="1325880"/>
            <a:ext cx="64008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75904" y="1472184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C — Tiny gap + noise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1856231"/>
            <a:ext cx="3017520" cy="3639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r>
              <a:rPr sz="1300" b="0">
                <a:solidFill>
                  <a:srgbClr val="475569"/>
                </a:solidFill>
                <a:latin typeface="Aptos"/>
              </a:rPr>
              <a:t>The difference is subtle and noisy.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UCB-Tuned strongly beats UCB.</a:t>
            </a:r>
            <a:br/>
            <a:br/>
            <a:r>
              <a:rPr sz="1300" b="0">
                <a:solidFill>
                  <a:srgbClr val="475569"/>
                </a:solidFill>
                <a:latin typeface="Aptos"/>
              </a:rPr>
              <a:t>Lesson: variance-aware exploration becomes more useful.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0120" y="5806440"/>
            <a:ext cx="10287000" cy="438912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907024"/>
            <a:ext cx="99212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sz="1300" b="1">
                <a:solidFill>
                  <a:srgbClr val="FFFFFF"/>
                </a:solidFill>
                <a:latin typeface="Aptos"/>
              </a:rPr>
              <a:t>Overall → small gaps + high uncertainty are the most favorable conditions.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Sections 4–5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Proof of Work: Our Own Code vs the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10835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100" b="0">
                <a:solidFill>
                  <a:srgbClr val="64748B"/>
                </a:solidFill>
                <a:latin typeface="Aptos"/>
              </a:rPr>
              <a:t>Our run of Group_7_DRL_ASSIGNMENT.py: T = 100,000, 10 trials × 2 arm orders (paper: T = 10⁶, 100 runs). Selected rows · all 10 algorithms in results_table.csv · differences explained on slide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PROOF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Our output: results_table.csv, regret_curves.png | Command: python Group_7_DRL_ASSIGNMENT.py --T 100000 --trials 10 | Paper columns = Wolf (2025) Tab. 3/4/5 | Repo: github.com/2025ag05770/DRL-Asignment-group-07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12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85800" y="3965568"/>
          <a:ext cx="10835640" cy="22219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 ours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A paper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B ours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B paper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 ours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C paper</a:t>
                      </a:r>
                    </a:p>
                  </a:txBody>
                  <a:tcPr marT="20000" marB="20000" anchor="ctr">
                    <a:solidFill>
                      <a:srgbClr val="12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ETC m=100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10.00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10.10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150.20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-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175.15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-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ETC m=10k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1000.00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1000.00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130.00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150.66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130.00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170.53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UCB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164.26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238.17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200.68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1127.17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202.75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1172.57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UCB-Tuned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28.51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30.67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94.93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212.21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98.29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226.09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UCB-V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89.13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109.93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124.63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346.58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133.62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367.65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EUCBV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74.81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47.73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121.74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461.36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126.61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476.31</a:t>
                      </a:r>
                    </a:p>
                  </a:txBody>
                  <a:tcPr marT="20000" marB="200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PAC-UCB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263.85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99.50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208.96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395.89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210.95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417.34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E293B"/>
                          </a:solidFill>
                        </a:rPr>
                        <a:t>ε-Greedy 0.05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265.96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-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90.40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361.97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E293B"/>
                          </a:solidFill>
                        </a:rPr>
                        <a:t>135.44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E293B"/>
                          </a:solidFill>
                        </a:rPr>
                        <a:t>301.55</a:t>
                      </a:r>
                    </a:p>
                  </a:txBody>
                  <a:tcPr marT="20000" marB="2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5" name="Regret curves" descr="fig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5568"/>
            <a:ext cx="10835640" cy="27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12648" y="256032"/>
            <a:ext cx="9601200" cy="3840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2400" b="1">
                <a:solidFill>
                  <a:srgbClr val="122035"/>
                </a:solidFill>
                <a:latin typeface="Aptos"/>
              </a:rPr>
              <a:t>Our Results vs the Paper: How to Read the Differences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04088"/>
            <a:ext cx="9601200" cy="2286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050" b="0">
                <a:solidFill>
                  <a:srgbClr val="64748B"/>
                </a:solidFill>
                <a:latin typeface="Aptos"/>
              </a:rPr>
              <a:t>What reproduces, what does not, and why absolute regret values are not directly comparable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6473952"/>
            <a:ext cx="9784080" cy="1554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700" b="0">
                <a:solidFill>
                  <a:srgbClr val="64748B"/>
                </a:solidFill>
                <a:latin typeface="Aptos"/>
              </a:rPr>
              <a:t>Source: Wolf (2025), Tab. 3-5 | Ours: results_table.csv (T = 10⁵, 10 trials × 2 arm orders) | Repo: github.com/2025ag05770/DRL-Asignment-group-07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7080" y="6464808"/>
            <a:ext cx="457200" cy="15544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r"/>
            <a:r>
              <a:rPr sz="750" b="0">
                <a:solidFill>
                  <a:srgbClr val="64748B"/>
                </a:solidFill>
                <a:latin typeface="Aptos"/>
              </a:rPr>
              <a:t>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234440"/>
            <a:ext cx="5257800" cy="242316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1371600"/>
            <a:ext cx="4892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50" b="1">
                <a:solidFill>
                  <a:srgbClr val="2563EB"/>
                </a:solidFill>
                <a:latin typeface="Aptos"/>
              </a:rPr>
              <a:t>Different scale, same ranking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764792"/>
            <a:ext cx="4892040" cy="1783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Paper: T = 10⁶, 100 runs. Ours: T = 10⁵, 10 trials × 2 arm orders. ETC and ε-Greedy regret grows linearly with T, UCB-type regret roughly logarithmically, so absolute values differ. We therefore compare rankings and cases with an exact value, such as ETC.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234440"/>
            <a:ext cx="5257800" cy="242316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371600"/>
            <a:ext cx="4892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50" b="1">
                <a:solidFill>
                  <a:srgbClr val="0D9488"/>
                </a:solidFill>
                <a:latin typeface="Aptos"/>
              </a:rPr>
              <a:t>What reproduces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764792"/>
            <a:ext cx="4892040" cy="1783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Scenario A: ETC m=100 gives 10.00 (paper 10.10) and ETC m=10k gives 1000.00 (paper 1000.00). UCB-Tuned has the lowest regret of the adaptive UCB methods in all three scenarios (28.51 / 94.93 / 98.29), and standard UCB is clearly above it in B and C.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40480"/>
            <a:ext cx="5257800" cy="2423160"/>
          </a:xfrm>
          <a:prstGeom prst="rect">
            <a:avLst/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977640"/>
            <a:ext cx="4892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50" b="1">
                <a:solidFill>
                  <a:srgbClr val="D97706"/>
                </a:solidFill>
                <a:latin typeface="Aptos"/>
              </a:rPr>
              <a:t>Where we differ (honest note)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370832"/>
            <a:ext cx="4892040" cy="1783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PAC-UCB (263.85) and EUCBV (74.81) in Scenario A exceed the paper’s T = 10⁶ values (99.50, 47.73) despite a 10× shorter horizon, so our implementation or parameters differ (EUCBV’s ρ is not used). UCB-Improved is not reproduced: our one-pull-per-step version does far better than the paper’s 32,500, so it is left out of the table.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840480"/>
            <a:ext cx="5257800" cy="2423160"/>
          </a:xfrm>
          <a:prstGeom prst="rect">
            <a:avLst/>
          </a:prstGeom>
          <a:solidFill>
            <a:srgbClr val="F5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3977640"/>
            <a:ext cx="4892040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50" b="1">
                <a:solidFill>
                  <a:srgbClr val="6D28D9"/>
                </a:solidFill>
                <a:latin typeface="Aptos"/>
              </a:rPr>
              <a:t>Scope of metrics and settings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370832"/>
            <a:ext cx="4892040" cy="17830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r>
              <a:rPr sz="1300" b="0">
                <a:solidFill>
                  <a:srgbClr val="475569"/>
                </a:solidFill>
                <a:latin typeface="Aptos"/>
              </a:rPr>
              <a:t>Our code reports average regret, suboptimal-pull ratio, total reward and the χ² p-value. VaR, reward distribution and regret distribution come from the paper’s Bandit Playground dashboard and are not reproduced. Extra settings (ETC m = 10, 1000, 10⁵; ε = 0.1, 0.01, 0.005) are not run.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11. Main Findings &amp; Significance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What the paper contributes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3429000" cy="1664208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325880"/>
            <a:ext cx="64008" cy="16642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 dirty="0">
                <a:solidFill>
                  <a:srgbClr val="122035"/>
                </a:solidFill>
                <a:latin typeface="Aptos"/>
              </a:rPr>
              <a:t>Finding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56231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475569"/>
                </a:solidFill>
                <a:latin typeface="Aptos"/>
              </a:defRPr>
            </a:pPr>
            <a:r>
              <a:rPr sz="1240" b="0">
                <a:solidFill>
                  <a:srgbClr val="475569"/>
                </a:solidFill>
                <a:latin typeface="Aptos"/>
              </a:rPr>
              <a:t>Variance-aware methods can be robust when arms are hard to distinguish under high uncertainty.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9976" y="1325880"/>
            <a:ext cx="3429000" cy="1664208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79976" y="1325880"/>
            <a:ext cx="64008" cy="16642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Finding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1144" y="1856231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475569"/>
                </a:solidFill>
                <a:latin typeface="Aptos"/>
              </a:defRPr>
            </a:pPr>
            <a:r>
              <a:rPr sz="1240" b="0">
                <a:solidFill>
                  <a:srgbClr val="475569"/>
                </a:solidFill>
                <a:latin typeface="Aptos"/>
              </a:rPr>
              <a:t>Classical algorithms can match or outperform them in easier settings.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3" y="1325880"/>
            <a:ext cx="3429000" cy="1664208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01583" y="1325880"/>
            <a:ext cx="64008" cy="16642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1472184"/>
            <a:ext cx="3063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1">
                <a:solidFill>
                  <a:srgbClr val="122035"/>
                </a:solidFill>
                <a:latin typeface="Aptos"/>
              </a:defRPr>
            </a:pPr>
            <a:r>
              <a:rPr sz="1350" b="1">
                <a:solidFill>
                  <a:srgbClr val="122035"/>
                </a:solidFill>
                <a:latin typeface="Aptos"/>
              </a:rPr>
              <a:t>Finding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56231"/>
            <a:ext cx="30632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40" b="0">
                <a:solidFill>
                  <a:srgbClr val="475569"/>
                </a:solidFill>
                <a:latin typeface="Aptos"/>
              </a:defRPr>
            </a:pPr>
            <a:r>
              <a:rPr sz="1240" b="0">
                <a:solidFill>
                  <a:srgbClr val="475569"/>
                </a:solidFill>
                <a:latin typeface="Aptos"/>
              </a:rPr>
              <a:t>Hyperparameter tuning can strongly influence apparent advantages.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401568"/>
            <a:ext cx="4892040" cy="40233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2688" y="35021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CONTRIBUTION 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00507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</a:rPr>
              <a:t>A reproducible framework standardizes initialization, randomness, timing, metrics, and comparison.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80760" y="3401568"/>
            <a:ext cx="4892040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350215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CONTRIBUTION 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4005072"/>
            <a:ext cx="4892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50" b="0">
                <a:solidFill>
                  <a:srgbClr val="475569"/>
                </a:solidFill>
                <a:latin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</a:rPr>
              <a:t>Evidence about the conditions under which variance-aware approaches outperform classical methods.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5230368"/>
            <a:ext cx="10287000" cy="50292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5358384"/>
            <a:ext cx="99212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20" b="1">
                <a:solidFill>
                  <a:srgbClr val="122035"/>
                </a:solidFill>
                <a:latin typeface="Aptos"/>
              </a:defRPr>
            </a:pPr>
            <a:r>
              <a:rPr sz="1320" b="1">
                <a:solidFill>
                  <a:srgbClr val="122035"/>
                </a:solidFill>
                <a:latin typeface="Aptos"/>
              </a:rPr>
              <a:t>The paper reframes the question: not “who wins?” but “who wins under these conditions?”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Abstract, Introduction and Section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A59F84-0AFC-7BDD-FC0F-2A5DF6A5B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053CE8-547D-D379-69A9-A4F3CF8C8E87}"/>
              </a:ext>
            </a:extLst>
          </p:cNvPr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85D1DA-EB08-62FC-BD52-259F29B69EB8}"/>
              </a:ext>
            </a:extLst>
          </p:cNvPr>
          <p:cNvSpPr txBox="1"/>
          <p:nvPr/>
        </p:nvSpPr>
        <p:spPr>
          <a:xfrm>
            <a:off x="658368" y="256032"/>
            <a:ext cx="868680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400" b="1">
                <a:solidFill>
                  <a:srgbClr val="122035"/>
                </a:solidFill>
                <a:latin typeface="Aptos"/>
              </a:defRPr>
            </a:pPr>
            <a:r>
              <a:rPr lang="en-IN" sz="2400" b="1" dirty="0">
                <a:solidFill>
                  <a:srgbClr val="122035"/>
                </a:solidFill>
                <a:latin typeface="Aptos"/>
              </a:rPr>
              <a:t>12. Limitations &amp; Future Work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ECDF5E-AE2D-257A-D48B-83EA49821D40}"/>
              </a:ext>
            </a:extLst>
          </p:cNvPr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0A012D-0818-8F16-2E33-A24DF27428EA}"/>
              </a:ext>
            </a:extLst>
          </p:cNvPr>
          <p:cNvSpPr txBox="1"/>
          <p:nvPr/>
        </p:nvSpPr>
        <p:spPr>
          <a:xfrm>
            <a:off x="10378440" y="374904"/>
            <a:ext cx="11430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lang="en-IN" sz="800" b="1" dirty="0">
                <a:solidFill>
                  <a:srgbClr val="FFFFFF"/>
                </a:solidFill>
                <a:latin typeface="Aptos"/>
              </a:rPr>
              <a:t>REFLECTION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2F63C2-C035-2001-5D9B-AB3F8DE5505C}"/>
              </a:ext>
            </a:extLst>
          </p:cNvPr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C4C67D-F136-AF1B-EC6B-D1D3B0AF5478}"/>
              </a:ext>
            </a:extLst>
          </p:cNvPr>
          <p:cNvSpPr/>
          <p:nvPr/>
        </p:nvSpPr>
        <p:spPr>
          <a:xfrm>
            <a:off x="713232" y="1325880"/>
            <a:ext cx="3383280" cy="4297680"/>
          </a:xfrm>
          <a:prstGeom prst="rect">
            <a:avLst/>
          </a:prstGeom>
          <a:solidFill>
            <a:srgbClr val="EFF6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898CD0-88D7-47D1-AE36-F787F285ADDD}"/>
              </a:ext>
            </a:extLst>
          </p:cNvPr>
          <p:cNvSpPr/>
          <p:nvPr/>
        </p:nvSpPr>
        <p:spPr>
          <a:xfrm>
            <a:off x="713232" y="1325880"/>
            <a:ext cx="64008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BB7FB1-6BB2-7B3F-FD0F-68F9CA0DA283}"/>
              </a:ext>
            </a:extLst>
          </p:cNvPr>
          <p:cNvSpPr txBox="1"/>
          <p:nvPr/>
        </p:nvSpPr>
        <p:spPr>
          <a:xfrm>
            <a:off x="914400" y="1472184"/>
            <a:ext cx="301752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IN" sz="1350" b="1" dirty="0">
                <a:solidFill>
                  <a:srgbClr val="122035"/>
                </a:solidFill>
                <a:latin typeface="Aptos"/>
              </a:rPr>
              <a:t>Limitations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A7E02B-4FF8-1DB2-4CB6-181FA5D833ED}"/>
              </a:ext>
            </a:extLst>
          </p:cNvPr>
          <p:cNvSpPr txBox="1"/>
          <p:nvPr/>
        </p:nvSpPr>
        <p:spPr>
          <a:xfrm>
            <a:off x="914400" y="1856231"/>
            <a:ext cx="3017520" cy="1892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rPr lang="en-US" sz="1300" b="0" dirty="0">
                <a:solidFill>
                  <a:srgbClr val="475569"/>
                </a:solidFill>
                <a:latin typeface="Aptos"/>
              </a:rPr>
              <a:t>• Stationary, binary-reward environments.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Main evaluation focuses on two arms.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Tuning remains an important factor.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Findings should not be generalized to every real-world bandit problem.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AA2DC1-11FA-CDB4-D6DD-92187C2DB69F}"/>
              </a:ext>
            </a:extLst>
          </p:cNvPr>
          <p:cNvSpPr/>
          <p:nvPr/>
        </p:nvSpPr>
        <p:spPr>
          <a:xfrm>
            <a:off x="4443984" y="1325880"/>
            <a:ext cx="3383280" cy="4297680"/>
          </a:xfrm>
          <a:prstGeom prst="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69C92-7366-FEDF-8E42-360E9FB60FE8}"/>
              </a:ext>
            </a:extLst>
          </p:cNvPr>
          <p:cNvSpPr/>
          <p:nvPr/>
        </p:nvSpPr>
        <p:spPr>
          <a:xfrm>
            <a:off x="4443984" y="1325880"/>
            <a:ext cx="64008" cy="4297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F140B9-B3BE-F802-0E5D-492BD1279F6F}"/>
              </a:ext>
            </a:extLst>
          </p:cNvPr>
          <p:cNvSpPr txBox="1"/>
          <p:nvPr/>
        </p:nvSpPr>
        <p:spPr>
          <a:xfrm>
            <a:off x="4645152" y="1472184"/>
            <a:ext cx="301752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IN" sz="1350" b="1" dirty="0">
                <a:solidFill>
                  <a:srgbClr val="122035"/>
                </a:solidFill>
                <a:latin typeface="Aptos"/>
              </a:rPr>
              <a:t>Critical Reflection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E56370-DD61-5053-6DD3-A9ECD75A98F6}"/>
              </a:ext>
            </a:extLst>
          </p:cNvPr>
          <p:cNvSpPr txBox="1"/>
          <p:nvPr/>
        </p:nvSpPr>
        <p:spPr>
          <a:xfrm>
            <a:off x="4645152" y="1856231"/>
            <a:ext cx="3017520" cy="2492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rPr lang="en-US" sz="1300" b="0" dirty="0">
                <a:solidFill>
                  <a:srgbClr val="475569"/>
                </a:solidFill>
                <a:latin typeface="Aptos"/>
              </a:rPr>
              <a:t>• </a:t>
            </a:r>
            <a:r>
              <a:rPr lang="en-IN" sz="1300" b="0" dirty="0">
                <a:solidFill>
                  <a:srgbClr val="475569"/>
                </a:solidFill>
                <a:latin typeface="Aptos"/>
              </a:rPr>
              <a:t>Framework improves fairness and reproducibility of comparisons.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</a:t>
            </a:r>
            <a:r>
              <a:rPr lang="en-IN" sz="1300" b="0" dirty="0">
                <a:solidFill>
                  <a:srgbClr val="475569"/>
                </a:solidFill>
                <a:latin typeface="Aptos"/>
              </a:rPr>
              <a:t>No single algorithm is universally best</a:t>
            </a:r>
            <a:r>
              <a:rPr lang="en-US" sz="1300" b="0" dirty="0">
                <a:solidFill>
                  <a:srgbClr val="475569"/>
                </a:solidFill>
                <a:latin typeface="Aptos"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</a:t>
            </a:r>
            <a:r>
              <a:rPr lang="en-IN" sz="1300" b="0" dirty="0">
                <a:solidFill>
                  <a:srgbClr val="475569"/>
                </a:solidFill>
                <a:latin typeface="Aptos"/>
              </a:rPr>
              <a:t>Performance depends on reward gap, uncertainty, and tuning</a:t>
            </a:r>
            <a:r>
              <a:rPr lang="en-US" sz="1300" b="0" dirty="0">
                <a:solidFill>
                  <a:srgbClr val="475569"/>
                </a:solidFill>
                <a:latin typeface="Aptos"/>
              </a:rPr>
              <a:t>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</a:t>
            </a:r>
            <a:r>
              <a:rPr lang="en-IN" sz="1300" b="0" dirty="0">
                <a:solidFill>
                  <a:srgbClr val="475569"/>
                </a:solidFill>
                <a:latin typeface="Aptos"/>
              </a:rPr>
              <a:t>Variance-awareness is most useful when gaps are small and uncertainty is high</a:t>
            </a:r>
            <a:r>
              <a:rPr lang="en-US" sz="1300" b="0" dirty="0">
                <a:solidFill>
                  <a:srgbClr val="475569"/>
                </a:solidFill>
                <a:latin typeface="Aptos"/>
              </a:rPr>
              <a:t>.</a:t>
            </a:r>
          </a:p>
          <a:p>
            <a:pPr algn="l">
              <a:defRPr sz="1300" b="0">
                <a:solidFill>
                  <a:srgbClr val="475569"/>
                </a:solidFill>
                <a:latin typeface="Aptos"/>
              </a:defRPr>
            </a:pPr>
            <a:endParaRPr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E4D7E4-1362-7286-FB18-40EB3D8DECD4}"/>
              </a:ext>
            </a:extLst>
          </p:cNvPr>
          <p:cNvSpPr/>
          <p:nvPr/>
        </p:nvSpPr>
        <p:spPr>
          <a:xfrm>
            <a:off x="8174736" y="1325880"/>
            <a:ext cx="3383280" cy="4297680"/>
          </a:xfrm>
          <a:prstGeom prst="rect">
            <a:avLst/>
          </a:prstGeom>
          <a:solidFill>
            <a:srgbClr val="F0FDF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91C1A9-8267-3D51-BF9D-6A986D7688CB}"/>
              </a:ext>
            </a:extLst>
          </p:cNvPr>
          <p:cNvSpPr/>
          <p:nvPr/>
        </p:nvSpPr>
        <p:spPr>
          <a:xfrm>
            <a:off x="8174736" y="1325880"/>
            <a:ext cx="64008" cy="42976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9A2BA0-1644-B3F1-CA81-64DFC393A62B}"/>
              </a:ext>
            </a:extLst>
          </p:cNvPr>
          <p:cNvSpPr txBox="1"/>
          <p:nvPr/>
        </p:nvSpPr>
        <p:spPr>
          <a:xfrm>
            <a:off x="8375904" y="1472184"/>
            <a:ext cx="3017520" cy="3000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50" b="1">
                <a:solidFill>
                  <a:srgbClr val="122035"/>
                </a:solidFill>
                <a:latin typeface="Aptos"/>
              </a:defRPr>
            </a:pPr>
            <a:r>
              <a:rPr lang="en-IN" sz="1350" b="1" dirty="0">
                <a:solidFill>
                  <a:srgbClr val="122035"/>
                </a:solidFill>
                <a:latin typeface="Aptos"/>
              </a:rPr>
              <a:t>Future work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A70858-4084-D821-A5A8-B947603BF55A}"/>
              </a:ext>
            </a:extLst>
          </p:cNvPr>
          <p:cNvSpPr txBox="1"/>
          <p:nvPr/>
        </p:nvSpPr>
        <p:spPr>
          <a:xfrm>
            <a:off x="8375904" y="1856231"/>
            <a:ext cx="3017520" cy="18928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475569"/>
                </a:solidFill>
                <a:latin typeface="Aptos"/>
              </a:defRPr>
            </a:pPr>
            <a:r>
              <a:rPr lang="en-US" sz="1300" b="0" dirty="0">
                <a:solidFill>
                  <a:srgbClr val="475569"/>
                </a:solidFill>
                <a:latin typeface="Aptos"/>
              </a:rPr>
              <a:t>• Test non-stationary and delayed rewards.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Extend to contextual bandits.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Analyze runtime and sample complexity.</a:t>
            </a:r>
            <a:br>
              <a:rPr lang="en-US" dirty="0"/>
            </a:br>
            <a:br>
              <a:rPr lang="en-US" dirty="0"/>
            </a:br>
            <a:r>
              <a:rPr lang="en-US" sz="1300" b="0" dirty="0">
                <a:solidFill>
                  <a:srgbClr val="475569"/>
                </a:solidFill>
                <a:latin typeface="Aptos"/>
              </a:rPr>
              <a:t>• Validate on larger real applications.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1821DC-4393-35F1-87E5-8B77911D3EA0}"/>
              </a:ext>
            </a:extLst>
          </p:cNvPr>
          <p:cNvSpPr/>
          <p:nvPr/>
        </p:nvSpPr>
        <p:spPr>
          <a:xfrm>
            <a:off x="960120" y="5806440"/>
            <a:ext cx="10287000" cy="438912"/>
          </a:xfrm>
          <a:prstGeom prst="rect">
            <a:avLst/>
          </a:prstGeom>
          <a:solidFill>
            <a:srgbClr val="F7FA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1DBDBD-0E69-C169-0343-C22699A17CE1}"/>
              </a:ext>
            </a:extLst>
          </p:cNvPr>
          <p:cNvSpPr txBox="1"/>
          <p:nvPr/>
        </p:nvSpPr>
        <p:spPr>
          <a:xfrm>
            <a:off x="1143000" y="5907024"/>
            <a:ext cx="99212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50" b="1">
                <a:solidFill>
                  <a:srgbClr val="122035"/>
                </a:solidFill>
                <a:latin typeface="Aptos"/>
              </a:defRPr>
            </a:pPr>
            <a:r>
              <a:rPr lang="en-US" sz="1200" b="1" dirty="0">
                <a:solidFill>
                  <a:srgbClr val="122035"/>
                </a:solidFill>
                <a:latin typeface="Aptos"/>
                <a:hlinkClick r:id="rId2"/>
              </a:rPr>
              <a:t>Replication Code: Group_7_DRL_ASSIGNMENT.py | Repo: https://github.com/2025ag05770/DRL-Asignment-group-07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1EBD2D-0A4E-0B59-73B6-8696E82B4068}"/>
              </a:ext>
            </a:extLst>
          </p:cNvPr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2B3992-0A7F-6B0B-005E-F7FFB003EE34}"/>
              </a:ext>
            </a:extLst>
          </p:cNvPr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Sections 4–5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A3C6EE-50CD-E812-9A9D-0FCA8D745BF7}"/>
              </a:ext>
            </a:extLst>
          </p:cNvPr>
          <p:cNvSpPr txBox="1"/>
          <p:nvPr/>
        </p:nvSpPr>
        <p:spPr>
          <a:xfrm>
            <a:off x="10972800" y="6464808"/>
            <a:ext cx="365760" cy="20774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 dirty="0">
                <a:solidFill>
                  <a:srgbClr val="64748B"/>
                </a:solidFill>
                <a:latin typeface="Aptos"/>
              </a:rPr>
              <a:t>15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278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13.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A practical takeaway for algorithm selection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325880"/>
            <a:ext cx="10332720" cy="777240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90472"/>
            <a:ext cx="98755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50" b="1">
                <a:solidFill>
                  <a:srgbClr val="FFFFFF"/>
                </a:solidFill>
                <a:latin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</a:rPr>
              <a:t>Do not ask “Which algorithm is best?” — ask “Which algorithm is best under these conditions?”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487168"/>
            <a:ext cx="9966960" cy="1235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Fair comparison requires standardized experimental conditions.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Variance-aware methods are most compelling when gaps are small and uncertainty is high.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Well-tuned classical methods can remain competitive or better in easier settings.</a:t>
            </a:r>
          </a:p>
          <a:p>
            <a:pPr>
              <a:lnSpc>
                <a:spcPct val="102000"/>
              </a:lnSpc>
              <a:spcAft>
                <a:spcPts val="700"/>
              </a:spcAft>
              <a:defRPr sz="1400">
                <a:solidFill>
                  <a:srgbClr val="475569"/>
                </a:solidFill>
                <a:latin typeface="Aptos"/>
              </a:defRPr>
            </a:pPr>
            <a:r>
              <a:rPr sz="1400" dirty="0">
                <a:solidFill>
                  <a:srgbClr val="475569"/>
                </a:solidFill>
                <a:latin typeface="Aptos"/>
              </a:rPr>
              <a:t>• Full Reproducibility: Code &amp; Experiment Data available at </a:t>
            </a:r>
            <a:r>
              <a:rPr sz="1400" dirty="0">
                <a:solidFill>
                  <a:srgbClr val="475569"/>
                </a:solidFill>
                <a:latin typeface="Aptos"/>
                <a:hlinkClick r:id="rId2"/>
              </a:rPr>
              <a:t>https://github.com/2025ag05770/DRL-Asignment-group-07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08760" y="525780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5404104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rPr sz="1100" b="1">
                <a:solidFill>
                  <a:srgbClr val="2563EB"/>
                </a:solidFill>
                <a:latin typeface="Aptos"/>
              </a:rPr>
              <a:t>ENVIRONMENT: gap + noise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525780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5404104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D97706"/>
                </a:solidFill>
                <a:latin typeface="Aptos"/>
              </a:defRPr>
            </a:pPr>
            <a:r>
              <a:rPr sz="1100" b="1">
                <a:solidFill>
                  <a:srgbClr val="D97706"/>
                </a:solidFill>
                <a:latin typeface="Aptos"/>
              </a:rPr>
              <a:t>TUNING: can flip the winner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5257800"/>
            <a:ext cx="24231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5404104"/>
            <a:ext cx="2240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D9488"/>
                </a:solidFill>
                <a:latin typeface="Aptos"/>
              </a:defRPr>
            </a:pPr>
            <a:r>
              <a:rPr sz="1100" b="1">
                <a:solidFill>
                  <a:srgbClr val="0D9488"/>
                </a:solidFill>
                <a:latin typeface="Aptos"/>
              </a:rPr>
              <a:t>RISK: UCB-Tuned avoids bad runs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Source: Wolf (2025), overall synthesis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56032"/>
            <a:ext cx="8686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122035"/>
                </a:solidFill>
                <a:latin typeface="Aptos"/>
              </a:defRPr>
            </a:pPr>
            <a:r>
              <a:rPr sz="2400" b="1">
                <a:solidFill>
                  <a:srgbClr val="122035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04088"/>
            <a:ext cx="8961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rPr sz="1050" b="0">
                <a:solidFill>
                  <a:srgbClr val="64748B"/>
                </a:solidFill>
                <a:latin typeface="Aptos"/>
              </a:rPr>
              <a:t>Primary paper and selected background literature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378440" y="320040"/>
            <a:ext cx="1143000" cy="310896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378440" y="374904"/>
            <a:ext cx="11430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rPr sz="800" b="1">
                <a:solidFill>
                  <a:srgbClr val="FFFFFF"/>
                </a:solidFill>
                <a:latin typeface="Aptos"/>
              </a:rPr>
              <a:t>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987552"/>
            <a:ext cx="1083564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98448"/>
            <a:ext cx="10835640" cy="438912"/>
          </a:xfrm>
          <a:prstGeom prst="rect">
            <a:avLst/>
          </a:prstGeom>
          <a:solidFill>
            <a:srgbClr val="12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417320"/>
            <a:ext cx="10378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SELECTED REFERENCES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1901952"/>
            <a:ext cx="475488" cy="4754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020824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1920240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Wolf, E. (2025). A Framework for Fair Evaluation of Variance-Aware Bandit Algorithms. arXiv:2510.27001.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706624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825496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2724912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Auer, P., Cesa-Bianchi, N., &amp; Fischer, P. (2002). Finite-time analysis of the multiarmed bandit problem. Machine Learning, 47, 235–256.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511296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630168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3312" y="3529584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Audibert, J.-Y., Munos, R., &amp; Szepesvári, C. (2009). Exploration-exploitation tradeoff using variance estimates in multi-armed bandits. Theoretical Computer Science, 410, 1876–1902.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4315968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434840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334255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Auer, P., &amp; Ortner, R. (2010). UCB revisited: Improved regret bounds for the stochastic multi-armed bandit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5120640"/>
            <a:ext cx="475488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5239512"/>
            <a:ext cx="475488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rPr sz="9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5138927"/>
            <a:ext cx="9829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475569"/>
                </a:solidFill>
                <a:latin typeface="Aptos"/>
              </a:defRPr>
            </a:pPr>
            <a:r>
              <a:rPr sz="1150" b="0">
                <a:solidFill>
                  <a:srgbClr val="475569"/>
                </a:solidFill>
                <a:latin typeface="Aptos"/>
              </a:rPr>
              <a:t>Lattimore, T., &amp; Szepesvári, C. (2020). Bandit Algorithms. Cambridge University Press.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25880" y="5737568"/>
            <a:ext cx="9509760" cy="658368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481328" y="5810720"/>
            <a:ext cx="9189720" cy="269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50" b="1">
                <a:solidFill>
                  <a:srgbClr val="2563EB"/>
                </a:solidFill>
                <a:latin typeface="Aptos"/>
              </a:defRPr>
            </a:pPr>
            <a:r>
              <a:rPr sz="1150" b="1" dirty="0">
                <a:solidFill>
                  <a:srgbClr val="2563EB"/>
                </a:solidFill>
                <a:latin typeface="Aptos"/>
                <a:hlinkClick r:id="rId2"/>
              </a:rPr>
              <a:t>GitHub (code + results): https://github.com/2025ag05770/DRL-Asignment-group-07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6419088"/>
            <a:ext cx="10835640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6473952"/>
            <a:ext cx="97840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0">
                <a:solidFill>
                  <a:srgbClr val="64748B"/>
                </a:solidFill>
                <a:latin typeface="Aptos"/>
              </a:defRPr>
            </a:pPr>
            <a:r>
              <a:rPr sz="700" b="0">
                <a:solidFill>
                  <a:srgbClr val="64748B"/>
                </a:solidFill>
                <a:latin typeface="Aptos"/>
              </a:rPr>
              <a:t>Primary source: Wolf (2025), arXiv:2510.27001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64808"/>
            <a:ext cx="36576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750" b="0">
                <a:solidFill>
                  <a:srgbClr val="64748B"/>
                </a:solidFill>
                <a:latin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2779</Words>
  <Application>Microsoft Office PowerPoint</Application>
  <PresentationFormat>Widescreen</PresentationFormat>
  <Paragraphs>388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John Wick</dc:creator>
  <cp:keywords/>
  <dc:description>generated using python-pptx</dc:description>
  <cp:lastModifiedBy>ankush salian</cp:lastModifiedBy>
  <cp:revision>7</cp:revision>
  <dcterms:created xsi:type="dcterms:W3CDTF">2013-01-27T09:14:16Z</dcterms:created>
  <dcterms:modified xsi:type="dcterms:W3CDTF">2026-10-09T15:45:17Z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1.0.155</vt:lpwstr>
  </property>
  <property fmtid="{D5CDD505-2E9C-101B-9397-08002B2CF9AE}" pid="3" name="OfficeCLI.LastModified">
    <vt:lpwstr>2026-10-06T18:21:38Z</vt:lpwstr>
  </property>
</Properties>
</file>